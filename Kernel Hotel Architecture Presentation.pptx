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Fira Code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FiraCode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FiraCod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16421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884015"/>
            <a:ext cx="2647950" cy="285750"/>
          </a:xfrm>
          <a:prstGeom prst="roundRect">
            <a:avLst>
              <a:gd fmla="val 50000" name="adj"/>
            </a:avLst>
          </a:prstGeom>
          <a:solidFill>
            <a:srgbClr val="0F3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105025" y="4607123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98365"/>
            <a:ext cx="11251406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Kernel Hotel Web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196530"/>
            <a:ext cx="6953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Establishing the relationship between HTML, CSS, JavaScript, PHP, and MySQL.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1941165"/>
            <a:ext cx="2438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COLLEGE CLASS PRESENTATION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524250" y="1941165"/>
            <a:ext cx="2738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Front-End &amp; Database Architecture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545210"/>
            <a:ext cx="1247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NAME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4754760"/>
            <a:ext cx="1247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Kernels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495550" y="4545210"/>
            <a:ext cx="278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PRESENTED BY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495550" y="4754760"/>
            <a:ext cx="27860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Karly Leach &amp; Haley Fortier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2233612"/>
            <a:ext cx="3505200" cy="3324225"/>
          </a:xfrm>
          <a:prstGeom prst="roundRect">
            <a:avLst>
              <a:gd fmla="val 4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2233612"/>
            <a:ext cx="3505200" cy="3324225"/>
          </a:xfrm>
          <a:prstGeom prst="roundRect">
            <a:avLst>
              <a:gd fmla="val 4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77200" y="2233612"/>
            <a:ext cx="3505200" cy="3324225"/>
          </a:xfrm>
          <a:prstGeom prst="roundRect">
            <a:avLst>
              <a:gd fmla="val 4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547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547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547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6717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75" y="267176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9637" y="267176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925" y="42148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925" y="44719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3925" y="472916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7725" y="42148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7725" y="465296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7725" y="49101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1525" y="42148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1525" y="44719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1525" y="4910137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Project Overview &amp; Platform Separation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23925" y="3195637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Public Portal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23925" y="3576637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Guest-facing pages for hotel exploration and reservations.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657725" y="3195637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Admin Control Panel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657725" y="3576637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Back-office operations for hotel staff management.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391525" y="3195637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Data Foundation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391525" y="3576637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Relational MySQL store managed via PHP PDO.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23925" y="4186237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Home &amp; Rooms: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Live room catalog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3925" y="4443412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date availability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23925" y="4700587"/>
            <a:ext cx="2971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Guest Reviews: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Past-stay verified reviews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657725" y="4186237"/>
            <a:ext cx="2971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Central operational metrics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657725" y="4624387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Reservations: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Booking state updates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4657725" y="4881562"/>
            <a:ext cx="2971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Guests &amp; Reviews: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Moderate guest records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391525" y="4186237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Rooms: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Core kernel table entity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91525" y="4443412"/>
            <a:ext cx="2971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Foreign Keys: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Enforced referential integrity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391525" y="4881562"/>
            <a:ext cx="3595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Prepared SQL queries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7490519" y="1856482"/>
            <a:ext cx="4091880" cy="12573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490519" y="3304282"/>
            <a:ext cx="4091880" cy="1087635"/>
          </a:xfrm>
          <a:prstGeom prst="roundRect">
            <a:avLst>
              <a:gd fmla="val 105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490519" y="4582417"/>
            <a:ext cx="4091880" cy="1276350"/>
          </a:xfrm>
          <a:prstGeom prst="roundRect">
            <a:avLst>
              <a:gd fmla="val 89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7490519" y="1856482"/>
            <a:ext cx="38100" cy="1257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7690544" y="4009132"/>
            <a:ext cx="708868" cy="180975"/>
          </a:xfrm>
          <a:prstGeom prst="roundRect">
            <a:avLst>
              <a:gd fmla="val 2105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8723262" y="4009132"/>
            <a:ext cx="634454" cy="180975"/>
          </a:xfrm>
          <a:prstGeom prst="roundRect">
            <a:avLst>
              <a:gd fmla="val 2105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66875"/>
            <a:ext cx="6538019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title="Kernel Hotel Booking Entity Relationship Diagram.png"/>
          <p:cNvPicPr preferRelativeResize="0"/>
          <p:nvPr/>
        </p:nvPicPr>
        <p:blipFill rotWithShape="1">
          <a:blip r:embed="rId4">
            <a:alphaModFix/>
          </a:blip>
          <a:srcRect b="27314" l="0" r="0" t="27314"/>
          <a:stretch/>
        </p:blipFill>
        <p:spPr>
          <a:xfrm>
            <a:off x="809625" y="1866900"/>
            <a:ext cx="6135624" cy="3981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MODELING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ER Diagram: Prioritizing "Rooms" as the Kernel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719119" y="2046982"/>
            <a:ext cx="44728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Outfit"/>
                <a:ea typeface="Outfit"/>
                <a:cs typeface="Outfit"/>
                <a:sym typeface="Outfit"/>
              </a:rPr>
              <a:t>The "Rooms" Pivot Shift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719119" y="2323207"/>
            <a:ext cx="376803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While guests seem central initially, </a:t>
            </a: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Rooms</a:t>
            </a: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are the true kernel. Almost every transaction binds to physical room capacity.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690544" y="3504307"/>
            <a:ext cx="45014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Relational Connectors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690544" y="3780532"/>
            <a:ext cx="378708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Bookings Table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acts as the junction connecting and foreign keys.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690544" y="4782442"/>
            <a:ext cx="45014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Review Integrity Link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690544" y="5058667"/>
            <a:ext cx="37870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Reviews Table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stores reviewer emails to cross-reference checkout dates in Bookings before approving feedback.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747694" y="4028182"/>
            <a:ext cx="88031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guest_id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780412" y="4028182"/>
            <a:ext cx="80590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room_id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609600" y="2900362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400425" y="2900362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191250" y="2900362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982075" y="2900362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381250" y="3157537"/>
            <a:ext cx="590550" cy="180975"/>
          </a:xfrm>
          <a:prstGeom prst="roundRect">
            <a:avLst>
              <a:gd fmla="val 21052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219700" y="3157537"/>
            <a:ext cx="542925" cy="180975"/>
          </a:xfrm>
          <a:prstGeom prst="roundRect">
            <a:avLst>
              <a:gd fmla="val 21052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810500" y="3157537"/>
            <a:ext cx="742950" cy="180975"/>
          </a:xfrm>
          <a:prstGeom prst="roundRect">
            <a:avLst>
              <a:gd fmla="val 21052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0696575" y="3157537"/>
            <a:ext cx="647700" cy="180975"/>
          </a:xfrm>
          <a:prstGeom prst="roundRect">
            <a:avLst>
              <a:gd fmla="val 21052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STRUCTURES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Core Tables &amp; Schema Constraints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47725" y="3138487"/>
            <a:ext cx="86010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Rooms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2457450" y="3176587"/>
            <a:ext cx="533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KERNEL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47725" y="35671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PK AUTO_INC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7725" y="37957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room_type: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VARCHAR(50)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47725" y="40243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DECIMAL(10,2)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47725" y="42529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amenities: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VARCHAR(255)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47725" y="44815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availability_status: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3638550" y="3138487"/>
            <a:ext cx="8701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Guests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295900" y="3176587"/>
            <a:ext cx="485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ENTITY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3638550" y="35671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PK AUTO_INC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3638550" y="37957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VARCHAR(100)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3638550" y="40243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email: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VARCHAR(150)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638550" y="42529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phone: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VARCHAR(20)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638550" y="44815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mailing_address: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429375" y="3138487"/>
            <a:ext cx="10601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Bookings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7886700" y="3176587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JUNCTION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429375" y="35671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PK AUTO_INC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429375" y="37957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guest_id: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FK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429375" y="40243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room_id: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FK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429375" y="42529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checkin/out: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DATE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429375" y="44815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booking_status: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9220200" y="3138487"/>
            <a:ext cx="99012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Reviews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0772775" y="3176587"/>
            <a:ext cx="590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9220200" y="35671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PK AUTO_INC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9220200" y="37957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reviewer_info: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220200" y="40243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rating: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 (1-5 CHECK)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220200" y="42529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review_text: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TEXT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9220200" y="4481512"/>
            <a:ext cx="2655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approval_status: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VARCHAR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609600" y="2436911"/>
            <a:ext cx="5543550" cy="2879377"/>
          </a:xfrm>
          <a:prstGeom prst="roundRect">
            <a:avLst>
              <a:gd fmla="val 396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496050" y="2090737"/>
            <a:ext cx="5086350" cy="1095375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496050" y="3338512"/>
            <a:ext cx="508635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496050" y="4567237"/>
            <a:ext cx="5086350" cy="1095375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8724900" y="2576512"/>
            <a:ext cx="933598" cy="2095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9982348" y="2576512"/>
            <a:ext cx="933598" cy="2095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6696075" y="5053012"/>
            <a:ext cx="1276647" cy="2095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9408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298355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3196828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410098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404991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902993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ORGANIZATIONAL STRUCTURE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Modular Front-End File Hierarchy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38200" y="2665511"/>
            <a:ext cx="6357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kernel-hotel/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990600" y="2954982"/>
            <a:ext cx="61674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index.php &amp; rooms.php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990600" y="3168253"/>
            <a:ext cx="61674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book.php &amp; process_booking.php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990600" y="3381523"/>
            <a:ext cx="61674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admin/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143000" y="3594794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├── dashboard.php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143000" y="3808065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Fira Code"/>
                <a:ea typeface="Fira Code"/>
                <a:cs typeface="Fira Code"/>
                <a:sym typeface="Fira Code"/>
              </a:rPr>
              <a:t>└── manage_reservations.php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990600" y="4021335"/>
            <a:ext cx="61674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includes/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143000" y="4234606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CC15"/>
                </a:solidFill>
                <a:latin typeface="Fira Code"/>
                <a:ea typeface="Fira Code"/>
                <a:cs typeface="Fira Code"/>
                <a:sym typeface="Fira Code"/>
              </a:rPr>
              <a:t>├── db_connect.php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143000" y="4447877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CC15"/>
                </a:solidFill>
                <a:latin typeface="Fira Code"/>
                <a:ea typeface="Fira Code"/>
                <a:cs typeface="Fira Code"/>
                <a:sym typeface="Fira Code"/>
              </a:rPr>
              <a:t>├── header.php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143000" y="4661148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ACC15"/>
                </a:solidFill>
                <a:latin typeface="Fira Code"/>
                <a:ea typeface="Fira Code"/>
                <a:cs typeface="Fira Code"/>
                <a:sym typeface="Fira Code"/>
              </a:rPr>
              <a:t>└── footer.php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990600" y="4874418"/>
            <a:ext cx="61674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css/ &amp; js/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696075" y="2290762"/>
            <a:ext cx="5495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Includes Folder (</a:t>
            </a:r>
            <a:r>
              <a:rPr b="1" i="0" lang="en-US" sz="1050" u="none" cap="none" strike="noStrike">
                <a:solidFill>
                  <a:srgbClr val="0D9488"/>
                </a:solidFill>
                <a:latin typeface="Outfit"/>
                <a:ea typeface="Outfit"/>
                <a:cs typeface="Outfit"/>
                <a:sym typeface="Outfit"/>
              </a:rPr>
              <a:t>includes/</a:t>
            </a: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696075" y="2566987"/>
            <a:ext cx="478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Holds reusable templates like header.php  and footer.php to eliminate redundant HTML code across views.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6696075" y="3538537"/>
            <a:ext cx="5495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Admin Isolation (</a:t>
            </a:r>
            <a:r>
              <a:rPr b="1" i="0" lang="en-US" sz="1050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admin/</a:t>
            </a: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6696075" y="3814762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Groups management pages together, allowing centralized access checks and simplified folder-level administrative routing.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6696075" y="4767262"/>
            <a:ext cx="5495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Centralized Database Config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6696075" y="5043487"/>
            <a:ext cx="478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db_connect.php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provides a single point of failure and connection configuration for all database queries.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609600" y="2995612"/>
            <a:ext cx="2628900" cy="1800076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3390900" y="2995612"/>
            <a:ext cx="2628900" cy="1800076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172200" y="2995612"/>
            <a:ext cx="2628900" cy="1800076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8953500" y="2995612"/>
            <a:ext cx="2628900" cy="1800076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8136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9025" y="328136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328136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1625" y="32813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STACK PIPELINE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Connecting HTML, CSS, JavaScript &amp; PHP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847725" y="3681412"/>
            <a:ext cx="2825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HTML5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847725" y="3995737"/>
            <a:ext cx="22479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Defines the core UI structure, booking forms, room cards, and DOM containers.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3629025" y="3681412"/>
            <a:ext cx="2825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CSS3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3629025" y="3995737"/>
            <a:ext cx="2247900" cy="56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Maintains visual layout, responsive grids, and brand aesthetics via </a:t>
            </a: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styles.css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410325" y="3681412"/>
            <a:ext cx="2825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JavaScript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6410325" y="3995737"/>
            <a:ext cx="22479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Handles client-side date input validation, UI feedback, and immediate field checks.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9191625" y="3681412"/>
            <a:ext cx="28253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PHP &amp; MySQL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9191625" y="3995737"/>
            <a:ext cx="22479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Processes business logic server-side and queries MySQL for room persistence.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609600" y="2605087"/>
            <a:ext cx="6583709" cy="2505075"/>
          </a:xfrm>
          <a:prstGeom prst="roundRect">
            <a:avLst>
              <a:gd fmla="val 4562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7498109" y="2695575"/>
            <a:ext cx="408429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7498109" y="3924300"/>
            <a:ext cx="4084290" cy="1095375"/>
          </a:xfrm>
          <a:prstGeom prst="roundRect">
            <a:avLst>
              <a:gd fmla="val 1043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9317384" y="4410075"/>
            <a:ext cx="1105197" cy="2095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INTEGRATION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Establishing the MySQL Connection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838200" y="2833687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includes/db_connect.php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38200" y="3095625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$host = </a:t>
            </a:r>
            <a:r>
              <a:rPr b="0" i="0" lang="en-US" sz="975" u="none" cap="none" strike="noStrik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'localhost'</a:t>
            </a: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38200" y="3281362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$db = </a:t>
            </a:r>
            <a:r>
              <a:rPr b="0" i="0" lang="en-US" sz="975" u="none" cap="none" strike="noStrik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'kernel_hotel'</a:t>
            </a: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838200" y="3467100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$user = </a:t>
            </a:r>
            <a:r>
              <a:rPr b="0" i="0" lang="en-US" sz="975" u="none" cap="none" strike="noStrik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'root'</a:t>
            </a: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838200" y="3767137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try {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990600" y="3952875"/>
            <a:ext cx="74676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$pdo = </a:t>
            </a:r>
            <a:r>
              <a:rPr b="0" i="0" lang="en-US" sz="975" u="none" cap="none" strike="noStrike">
                <a:solidFill>
                  <a:srgbClr val="FACC15"/>
                </a:solidFill>
                <a:latin typeface="Fira Code"/>
                <a:ea typeface="Fira Code"/>
                <a:cs typeface="Fira Code"/>
                <a:sym typeface="Fira Code"/>
              </a:rPr>
              <a:t>new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PDO(</a:t>
            </a:r>
            <a:r>
              <a:rPr b="0" i="0" lang="en-US" sz="975" u="none" cap="none" strike="noStrik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"mysql:host=$host;dbname=$db"</a:t>
            </a: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$user, $pass);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990600" y="4138612"/>
            <a:ext cx="74676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$pdo-&gt;setAttribute(PDO::ATTR_ERRMODE, PDO::ERRMODE_EXCEPTION);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838200" y="4324350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} catch (PDOException $e) {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990600" y="4510087"/>
            <a:ext cx="74676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die(</a:t>
            </a:r>
            <a:r>
              <a:rPr b="0" i="0" lang="en-US" sz="975" u="none" cap="none" strike="noStrik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"Database connection failed: "</a:t>
            </a:r>
            <a:r>
              <a:rPr b="0" i="0" lang="en-US" sz="975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 . $e-&gt;getMessage());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838200" y="4695825"/>
            <a:ext cx="7658137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7698134" y="2895600"/>
            <a:ext cx="44938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Prepared Statements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7698134" y="3171825"/>
            <a:ext cx="37794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user inputs are bound safely to prevent SQL injection risks across reservation forms.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7698134" y="4124325"/>
            <a:ext cx="44938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Automated Timestamps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7698134" y="4400550"/>
            <a:ext cx="37794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 triggers update automatically on row modification.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9355484" y="4429125"/>
            <a:ext cx="13147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date_updated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/>
          <p:nvPr/>
        </p:nvSpPr>
        <p:spPr>
          <a:xfrm>
            <a:off x="609600" y="3002756"/>
            <a:ext cx="5362575" cy="1785937"/>
          </a:xfrm>
          <a:prstGeom prst="roundRect">
            <a:avLst>
              <a:gd fmla="val 85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6200775" y="3002756"/>
            <a:ext cx="5381625" cy="1785937"/>
          </a:xfrm>
          <a:prstGeom prst="roundRect">
            <a:avLst>
              <a:gd fmla="val 8533" name="adj"/>
            </a:avLst>
          </a:prstGeom>
          <a:solidFill>
            <a:srgbClr val="FFFFFF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31708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332660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3412331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42185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CHALLENGE 01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Handling Overlapping Booking Dates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923925" y="3812381"/>
            <a:ext cx="48291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JavaScript provides instant user notifications, enforcing check-out dates to be strictly later than check-in dates prior to form submit.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6524625" y="3821906"/>
            <a:ext cx="48291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PHP executes SQL queries against active booking records in MySQL to guarantee a room cannot be double-booked for overlapping dates.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381125" y="3369468"/>
            <a:ext cx="3000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Client-Side Validation (JS)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6981825" y="3378993"/>
            <a:ext cx="333791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Server Source of Truth (PHP)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609600" y="3033712"/>
            <a:ext cx="3530649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330749" y="3033712"/>
            <a:ext cx="3530649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8051899" y="3033712"/>
            <a:ext cx="3530649" cy="1724025"/>
          </a:xfrm>
          <a:prstGeom prst="roundRect">
            <a:avLst>
              <a:gd fmla="val 66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CHALLENGE 02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Verifying Unauthenticated Guest Reviews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76300" y="3300412"/>
            <a:ext cx="3092499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4597449" y="3300412"/>
            <a:ext cx="3092499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8318599" y="3300412"/>
            <a:ext cx="3092499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885825" y="3586162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Review Submission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85825" y="3881437"/>
            <a:ext cx="30734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Visitors enter their email, rating (1–5), and review text on the public reviews page.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4606974" y="3586162"/>
            <a:ext cx="39088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Stay Verification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4606974" y="3881437"/>
            <a:ext cx="30734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PHP queries Bookings to verify the email matches a completed stay with a past checkout date.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8328124" y="3586162"/>
            <a:ext cx="3863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Approval Queue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8328124" y="3881437"/>
            <a:ext cx="30734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 feedback enters pending status until manually approved by hotel staff.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609600" y="2864643"/>
            <a:ext cx="5372100" cy="2062162"/>
          </a:xfrm>
          <a:prstGeom prst="roundRect">
            <a:avLst>
              <a:gd fmla="val 7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210300" y="2864643"/>
            <a:ext cx="5372100" cy="2062162"/>
          </a:xfrm>
          <a:prstGeom prst="roundRect">
            <a:avLst>
              <a:gd fmla="val 7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1408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31408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325516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325516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REFACTORING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Scope Refactoring &amp; Database Optimization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885825" y="3674268"/>
            <a:ext cx="63257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Pruned Contact Requests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885825" y="4007643"/>
            <a:ext cx="491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Removed the standalone Contact Requests Table to eliminate unused data structures and keep the schema strictly focused on core room bookings.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6486525" y="3674268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Streamlined Auth Scope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6486525" y="4007643"/>
            <a:ext cx="491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Removed password hash dependencies and role-based access rules from staff records to align with project requirements and prevent complexity bloat.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/>
          <p:nvPr/>
        </p:nvSpPr>
        <p:spPr>
          <a:xfrm>
            <a:off x="609600" y="3124200"/>
            <a:ext cx="3505200" cy="154305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4343400" y="3124200"/>
            <a:ext cx="3505200" cy="154305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8077200" y="3124200"/>
            <a:ext cx="3505200" cy="154305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609600" y="312420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4343400" y="312420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8077200" y="3124200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SUMMARY &amp; RESULTS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Key System Accomplishments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876300" y="3429000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876300" y="3933825"/>
            <a:ext cx="39004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Data Integrity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876300" y="42291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Enforced via foreign keys and sanitized queries.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4610100" y="3429000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4610100" y="3933825"/>
            <a:ext cx="39004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Double Bookings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610100" y="42291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PHP logic guarantees date range exclusivity.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8343900" y="3429000"/>
            <a:ext cx="3714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8343900" y="3933825"/>
            <a:ext cx="3848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Code Structure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8343900" y="42291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Shared includes eliminate repetitive templates.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/>
          <p:nvPr/>
        </p:nvSpPr>
        <p:spPr>
          <a:xfrm>
            <a:off x="3533775" y="4338637"/>
            <a:ext cx="5124450" cy="523875"/>
          </a:xfrm>
          <a:prstGeom prst="roundRect">
            <a:avLst>
              <a:gd fmla="val 50000" name="adj"/>
            </a:avLst>
          </a:prstGeom>
          <a:solidFill>
            <a:srgbClr val="1B2335"/>
          </a:solidFill>
          <a:ln cap="flat" cmpd="sng" w="9525">
            <a:solidFill>
              <a:srgbClr val="272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7" name="Google Shape;3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9954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21669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2876847" y="2833687"/>
            <a:ext cx="643830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Questions &amp; Discussion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2524125" y="3557587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time! We welcome feedback on our web architecture.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3286125" y="4500562"/>
            <a:ext cx="561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Kernel Hotel System •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Kernels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(Karly Leach &amp; Haley Fortier)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